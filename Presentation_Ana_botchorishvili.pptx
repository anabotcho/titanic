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rdo Bold" panose="020B0604020202020204" charset="-79"/>
      <p:regular r:id="rId8"/>
    </p:embeddedFont>
    <p:embeddedFont>
      <p:font typeface="Montserrat Bold" panose="020B0604020202020204" charset="0"/>
      <p:regular r:id="rId9"/>
    </p:embeddedFont>
    <p:embeddedFont>
      <p:font typeface="Poppins" panose="00000500000000000000" pitchFamily="2" charset="0"/>
      <p:regular r:id="rId10"/>
    </p:embeddedFont>
    <p:embeddedFont>
      <p:font typeface="Poppins Bold" panose="00000800000000000000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84606" y="4205689"/>
            <a:ext cx="7718789" cy="5402057"/>
          </a:xfrm>
          <a:custGeom>
            <a:avLst/>
            <a:gdLst/>
            <a:ahLst/>
            <a:cxnLst/>
            <a:rect l="l" t="t" r="r" b="b"/>
            <a:pathLst>
              <a:path w="7718789" h="5402057">
                <a:moveTo>
                  <a:pt x="0" y="0"/>
                </a:moveTo>
                <a:lnTo>
                  <a:pt x="7718788" y="0"/>
                </a:lnTo>
                <a:lnTo>
                  <a:pt x="7718788" y="5402057"/>
                </a:lnTo>
                <a:lnTo>
                  <a:pt x="0" y="5402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145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088702"/>
            <a:ext cx="16381415" cy="1524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sz="8999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TITANIC SURVIVAL MODEL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63060" y="2981389"/>
            <a:ext cx="18645675" cy="466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sz="2628" b="1" spc="-52">
                <a:solidFill>
                  <a:srgbClr val="477CC9"/>
                </a:solidFill>
                <a:latin typeface="Poppins Bold"/>
                <a:ea typeface="Poppins Bold"/>
                <a:cs typeface="Poppins Bold"/>
                <a:sym typeface="Poppins Bold"/>
              </a:rPr>
              <a:t>Who Would Have Survived? Predicting Titanic Passenger Survival with Machine Learning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604969" y="9331897"/>
            <a:ext cx="7366063" cy="475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5"/>
              </a:lnSpc>
              <a:spcBef>
                <a:spcPct val="0"/>
              </a:spcBef>
            </a:pPr>
            <a:r>
              <a:rPr lang="en-US" sz="2653" b="1" spc="-53">
                <a:solidFill>
                  <a:srgbClr val="477CC9"/>
                </a:solidFill>
                <a:latin typeface="Poppins Bold"/>
                <a:ea typeface="Poppins Bold"/>
                <a:cs typeface="Poppins Bold"/>
                <a:sym typeface="Poppins Bold"/>
              </a:rPr>
              <a:t> Ana Botchorishvili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8374" y="5760811"/>
            <a:ext cx="11889686" cy="1114658"/>
          </a:xfrm>
          <a:custGeom>
            <a:avLst/>
            <a:gdLst/>
            <a:ahLst/>
            <a:cxnLst/>
            <a:rect l="l" t="t" r="r" b="b"/>
            <a:pathLst>
              <a:path w="11889686" h="1114658">
                <a:moveTo>
                  <a:pt x="0" y="0"/>
                </a:moveTo>
                <a:lnTo>
                  <a:pt x="11889686" y="0"/>
                </a:lnTo>
                <a:lnTo>
                  <a:pt x="11889686" y="1114658"/>
                </a:lnTo>
                <a:lnTo>
                  <a:pt x="0" y="1114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88374" y="3400864"/>
            <a:ext cx="11889686" cy="1411900"/>
          </a:xfrm>
          <a:custGeom>
            <a:avLst/>
            <a:gdLst/>
            <a:ahLst/>
            <a:cxnLst/>
            <a:rect l="l" t="t" r="r" b="b"/>
            <a:pathLst>
              <a:path w="11889686" h="1411900">
                <a:moveTo>
                  <a:pt x="0" y="0"/>
                </a:moveTo>
                <a:lnTo>
                  <a:pt x="11889686" y="0"/>
                </a:lnTo>
                <a:lnTo>
                  <a:pt x="11889686" y="1411900"/>
                </a:lnTo>
                <a:lnTo>
                  <a:pt x="0" y="1411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8374" y="8065270"/>
            <a:ext cx="11060956" cy="1752080"/>
          </a:xfrm>
          <a:custGeom>
            <a:avLst/>
            <a:gdLst/>
            <a:ahLst/>
            <a:cxnLst/>
            <a:rect l="l" t="t" r="r" b="b"/>
            <a:pathLst>
              <a:path w="11060956" h="1752080">
                <a:moveTo>
                  <a:pt x="0" y="0"/>
                </a:moveTo>
                <a:lnTo>
                  <a:pt x="11060956" y="0"/>
                </a:lnTo>
                <a:lnTo>
                  <a:pt x="11060956" y="1752080"/>
                </a:lnTo>
                <a:lnTo>
                  <a:pt x="0" y="1752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4400" y="2154729"/>
            <a:ext cx="9887875" cy="683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22"/>
              </a:lnSpc>
              <a:spcBef>
                <a:spcPct val="0"/>
              </a:spcBef>
            </a:pPr>
            <a:endParaRPr dirty="0"/>
          </a:p>
          <a:p>
            <a:pPr algn="just">
              <a:lnSpc>
                <a:spcPts val="3062"/>
              </a:lnSpc>
              <a:spcBef>
                <a:spcPct val="0"/>
              </a:spcBef>
            </a:pPr>
            <a:endParaRPr dirty="0"/>
          </a:p>
          <a:p>
            <a:pPr algn="just">
              <a:lnSpc>
                <a:spcPts val="2777"/>
              </a:lnSpc>
              <a:spcBef>
                <a:spcPct val="0"/>
              </a:spcBef>
            </a:pPr>
            <a:r>
              <a:rPr lang="en-US" sz="1983" b="1" u="none" strike="noStrike" spc="-39" dirty="0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DATA BEFORE TREATMENT:</a:t>
            </a:r>
          </a:p>
          <a:p>
            <a:pPr algn="just">
              <a:lnSpc>
                <a:spcPts val="3062"/>
              </a:lnSpc>
              <a:spcBef>
                <a:spcPct val="0"/>
              </a:spcBef>
            </a:pPr>
            <a:endParaRPr lang="en-US" sz="1983" b="1" u="none" strike="noStrike" spc="-39" dirty="0">
              <a:solidFill>
                <a:srgbClr val="FF3131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062"/>
              </a:lnSpc>
              <a:spcBef>
                <a:spcPct val="0"/>
              </a:spcBef>
            </a:pPr>
            <a:endParaRPr lang="en-US" sz="1983" b="1" u="none" strike="noStrike" spc="-39" dirty="0">
              <a:solidFill>
                <a:srgbClr val="FF3131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062"/>
              </a:lnSpc>
              <a:spcBef>
                <a:spcPct val="0"/>
              </a:spcBef>
            </a:pPr>
            <a:endParaRPr lang="en-US" sz="1983" b="1" u="none" strike="noStrike" spc="-39" dirty="0">
              <a:solidFill>
                <a:srgbClr val="FF3131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062"/>
              </a:lnSpc>
              <a:spcBef>
                <a:spcPct val="0"/>
              </a:spcBef>
            </a:pPr>
            <a:endParaRPr lang="en-US" sz="1983" b="1" u="none" strike="noStrike" spc="-39" dirty="0">
              <a:solidFill>
                <a:srgbClr val="FF3131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062"/>
              </a:lnSpc>
              <a:spcBef>
                <a:spcPct val="0"/>
              </a:spcBef>
            </a:pPr>
            <a:endParaRPr lang="en-US" sz="1983" b="1" u="none" strike="noStrike" spc="-39" dirty="0">
              <a:solidFill>
                <a:srgbClr val="FF3131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777"/>
              </a:lnSpc>
              <a:spcBef>
                <a:spcPct val="0"/>
              </a:spcBef>
            </a:pPr>
            <a:r>
              <a:rPr lang="en-US" sz="1983" b="1" u="none" strike="noStrike" spc="-39" dirty="0">
                <a:solidFill>
                  <a:srgbClr val="FFBD59"/>
                </a:solidFill>
                <a:latin typeface="Poppins Bold"/>
                <a:ea typeface="Poppins Bold"/>
                <a:cs typeface="Poppins Bold"/>
                <a:sym typeface="Poppins Bold"/>
              </a:rPr>
              <a:t>AFTER TREATMENT:</a:t>
            </a:r>
          </a:p>
          <a:p>
            <a:pPr algn="just">
              <a:lnSpc>
                <a:spcPts val="2777"/>
              </a:lnSpc>
              <a:spcBef>
                <a:spcPct val="0"/>
              </a:spcBef>
            </a:pPr>
            <a:endParaRPr lang="en-US" sz="1983" b="1" u="none" strike="noStrike" spc="-39" dirty="0">
              <a:solidFill>
                <a:srgbClr val="FFBD59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062"/>
              </a:lnSpc>
              <a:spcBef>
                <a:spcPct val="0"/>
              </a:spcBef>
            </a:pPr>
            <a:endParaRPr lang="en-US" sz="1983" b="1" u="none" strike="noStrike" spc="-39" dirty="0">
              <a:solidFill>
                <a:srgbClr val="FFBD59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062"/>
              </a:lnSpc>
              <a:spcBef>
                <a:spcPct val="0"/>
              </a:spcBef>
            </a:pPr>
            <a:endParaRPr lang="en-US" sz="1983" b="1" u="none" strike="noStrike" spc="-39" dirty="0">
              <a:solidFill>
                <a:srgbClr val="FFBD59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062"/>
              </a:lnSpc>
              <a:spcBef>
                <a:spcPct val="0"/>
              </a:spcBef>
            </a:pPr>
            <a:endParaRPr lang="en-US" sz="1983" b="1" u="none" strike="noStrike" spc="-39" dirty="0">
              <a:solidFill>
                <a:srgbClr val="FFBD59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771"/>
              </a:lnSpc>
              <a:spcBef>
                <a:spcPct val="0"/>
              </a:spcBef>
            </a:pPr>
            <a:endParaRPr lang="en-US" sz="1983" b="1" u="none" strike="noStrike" spc="-39" dirty="0">
              <a:solidFill>
                <a:srgbClr val="FFBD59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771"/>
              </a:lnSpc>
              <a:spcBef>
                <a:spcPct val="0"/>
              </a:spcBef>
            </a:pPr>
            <a:r>
              <a:rPr lang="en-US" sz="1979" b="1" u="none" strike="noStrike" spc="-39" dirty="0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AFTER FEATURE SELECTION:</a:t>
            </a:r>
          </a:p>
          <a:p>
            <a:pPr algn="just">
              <a:lnSpc>
                <a:spcPts val="3062"/>
              </a:lnSpc>
              <a:spcBef>
                <a:spcPct val="0"/>
              </a:spcBef>
            </a:pPr>
            <a:endParaRPr lang="en-US" sz="1979" b="1" u="none" strike="noStrike" spc="-39" dirty="0">
              <a:solidFill>
                <a:srgbClr val="00BF63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062"/>
              </a:lnSpc>
              <a:spcBef>
                <a:spcPct val="0"/>
              </a:spcBef>
            </a:pPr>
            <a:endParaRPr lang="en-US" sz="1979" b="1" u="none" strike="noStrike" spc="-39" dirty="0">
              <a:solidFill>
                <a:srgbClr val="00BF63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0" lvl="0" indent="0" algn="l">
              <a:lnSpc>
                <a:spcPts val="2330"/>
              </a:lnSpc>
              <a:spcBef>
                <a:spcPct val="0"/>
              </a:spcBef>
            </a:pPr>
            <a:endParaRPr lang="en-US" sz="1979" b="1" u="none" strike="noStrike" spc="-39" dirty="0">
              <a:solidFill>
                <a:srgbClr val="00BF6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618408" y="199131"/>
            <a:ext cx="9762408" cy="18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 b="1">
                <a:solidFill>
                  <a:srgbClr val="00569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  <a:p>
            <a:pPr algn="ctr">
              <a:lnSpc>
                <a:spcPts val="7420"/>
              </a:lnSpc>
              <a:spcBef>
                <a:spcPct val="0"/>
              </a:spcBef>
            </a:pPr>
            <a:endParaRPr lang="en-US" sz="5300" b="1">
              <a:solidFill>
                <a:srgbClr val="00569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859228" y="5413574"/>
            <a:ext cx="7368797" cy="2734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97"/>
              </a:lnSpc>
            </a:pPr>
            <a:r>
              <a:rPr lang="en-US" sz="2212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477682" lvl="1" indent="-238841" algn="just">
              <a:lnSpc>
                <a:spcPts val="3097"/>
              </a:lnSpc>
              <a:buAutoNum type="arabicPeriod"/>
            </a:pPr>
            <a:r>
              <a:rPr lang="en-US" sz="2212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Missing Data </a:t>
            </a:r>
          </a:p>
          <a:p>
            <a:pPr marL="477682" lvl="1" indent="-238841" algn="just">
              <a:lnSpc>
                <a:spcPts val="3097"/>
              </a:lnSpc>
              <a:buAutoNum type="arabicPeriod"/>
            </a:pPr>
            <a:r>
              <a:rPr lang="en-US" sz="2212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Categorical Data </a:t>
            </a:r>
          </a:p>
          <a:p>
            <a:pPr marL="477682" lvl="1" indent="-238841" algn="just">
              <a:lnSpc>
                <a:spcPts val="3097"/>
              </a:lnSpc>
              <a:buAutoNum type="arabicPeriod"/>
            </a:pPr>
            <a:r>
              <a:rPr lang="en-US" sz="2212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 Imbalance</a:t>
            </a:r>
          </a:p>
          <a:p>
            <a:pPr marL="477682" lvl="1" indent="-238841" algn="just">
              <a:lnSpc>
                <a:spcPts val="3097"/>
              </a:lnSpc>
              <a:buAutoNum type="arabicPeriod"/>
            </a:pPr>
            <a:r>
              <a:rPr lang="en-US" sz="2212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Outliers in Fare &amp; Age</a:t>
            </a:r>
          </a:p>
          <a:p>
            <a:pPr marL="477682" lvl="1" indent="-238841" algn="just">
              <a:lnSpc>
                <a:spcPts val="3097"/>
              </a:lnSpc>
              <a:buAutoNum type="arabicPeriod"/>
            </a:pPr>
            <a:r>
              <a:rPr lang="en-US" sz="2212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Feature Correlation &amp; Engineering</a:t>
            </a:r>
          </a:p>
          <a:p>
            <a:pPr marL="477682" lvl="1" indent="-238841" algn="just">
              <a:lnSpc>
                <a:spcPts val="3097"/>
              </a:lnSpc>
              <a:buAutoNum type="arabicPeriod"/>
            </a:pPr>
            <a:r>
              <a:rPr lang="en-US" sz="2212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Potential Data Leakage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59228" y="5281790"/>
            <a:ext cx="9762408" cy="339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569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PROBLEMS IN THE TITANIC DATASET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9117" y="1750156"/>
            <a:ext cx="16077432" cy="77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  <a:spcBef>
                <a:spcPct val="0"/>
              </a:spcBef>
            </a:pPr>
            <a:r>
              <a:rPr lang="en-US" sz="2187" spc="-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1912 Titanic disaster claimed over 1,500 lives. Using machine learning, we predict passenger survival based on features like class, age, gender, fare, and family connections.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5847" y="2185862"/>
            <a:ext cx="2336859" cy="716991"/>
            <a:chOff x="0" y="0"/>
            <a:chExt cx="854175" cy="2620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4175" cy="262077"/>
            </a:xfrm>
            <a:custGeom>
              <a:avLst/>
              <a:gdLst/>
              <a:ahLst/>
              <a:cxnLst/>
              <a:rect l="l" t="t" r="r" b="b"/>
              <a:pathLst>
                <a:path w="854175" h="262077">
                  <a:moveTo>
                    <a:pt x="131038" y="0"/>
                  </a:moveTo>
                  <a:lnTo>
                    <a:pt x="723137" y="0"/>
                  </a:lnTo>
                  <a:cubicBezTo>
                    <a:pt x="795508" y="0"/>
                    <a:pt x="854175" y="58668"/>
                    <a:pt x="854175" y="131038"/>
                  </a:cubicBezTo>
                  <a:lnTo>
                    <a:pt x="854175" y="131038"/>
                  </a:lnTo>
                  <a:cubicBezTo>
                    <a:pt x="854175" y="203409"/>
                    <a:pt x="795508" y="262077"/>
                    <a:pt x="723137" y="262077"/>
                  </a:cubicBezTo>
                  <a:lnTo>
                    <a:pt x="131038" y="262077"/>
                  </a:lnTo>
                  <a:cubicBezTo>
                    <a:pt x="58668" y="262077"/>
                    <a:pt x="0" y="203409"/>
                    <a:pt x="0" y="131038"/>
                  </a:cubicBezTo>
                  <a:lnTo>
                    <a:pt x="0" y="131038"/>
                  </a:lnTo>
                  <a:cubicBezTo>
                    <a:pt x="0" y="58668"/>
                    <a:pt x="58668" y="0"/>
                    <a:pt x="13103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569E">
                    <a:alpha val="100000"/>
                  </a:srgbClr>
                </a:gs>
                <a:gs pos="100000">
                  <a:srgbClr val="01407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54175" cy="3192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200"/>
                </a:lnSpc>
                <a:spcBef>
                  <a:spcPct val="0"/>
                </a:spcBef>
              </a:pPr>
              <a:r>
                <a:rPr lang="en-US" sz="2286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Findi</a:t>
              </a:r>
              <a:r>
                <a:rPr lang="en-US" sz="2286" b="1" u="none" strike="noStrik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ngs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986070" y="343147"/>
            <a:ext cx="5117062" cy="685553"/>
            <a:chOff x="0" y="0"/>
            <a:chExt cx="1870403" cy="2505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70403" cy="250585"/>
            </a:xfrm>
            <a:custGeom>
              <a:avLst/>
              <a:gdLst/>
              <a:ahLst/>
              <a:cxnLst/>
              <a:rect l="l" t="t" r="r" b="b"/>
              <a:pathLst>
                <a:path w="1870403" h="250585">
                  <a:moveTo>
                    <a:pt x="69596" y="0"/>
                  </a:moveTo>
                  <a:lnTo>
                    <a:pt x="1800807" y="0"/>
                  </a:lnTo>
                  <a:cubicBezTo>
                    <a:pt x="1839244" y="0"/>
                    <a:pt x="1870403" y="31159"/>
                    <a:pt x="1870403" y="69596"/>
                  </a:cubicBezTo>
                  <a:lnTo>
                    <a:pt x="1870403" y="180989"/>
                  </a:lnTo>
                  <a:cubicBezTo>
                    <a:pt x="1870403" y="199447"/>
                    <a:pt x="1863070" y="217149"/>
                    <a:pt x="1850019" y="230201"/>
                  </a:cubicBezTo>
                  <a:cubicBezTo>
                    <a:pt x="1836967" y="243253"/>
                    <a:pt x="1819265" y="250585"/>
                    <a:pt x="1800807" y="250585"/>
                  </a:cubicBezTo>
                  <a:lnTo>
                    <a:pt x="69596" y="250585"/>
                  </a:lnTo>
                  <a:cubicBezTo>
                    <a:pt x="31159" y="250585"/>
                    <a:pt x="0" y="219426"/>
                    <a:pt x="0" y="180989"/>
                  </a:cubicBezTo>
                  <a:lnTo>
                    <a:pt x="0" y="69596"/>
                  </a:lnTo>
                  <a:cubicBezTo>
                    <a:pt x="0" y="31159"/>
                    <a:pt x="31159" y="0"/>
                    <a:pt x="695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569E">
                    <a:alpha val="100000"/>
                  </a:srgbClr>
                </a:gs>
                <a:gs pos="100000">
                  <a:srgbClr val="01407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870403" cy="317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480"/>
                </a:lnSpc>
                <a:spcBef>
                  <a:spcPct val="0"/>
                </a:spcBef>
              </a:pPr>
              <a:r>
                <a:rPr lang="en-US" sz="2486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pr</a:t>
              </a:r>
              <a:r>
                <a:rPr lang="en-US" sz="2486" b="1" u="none" strike="noStrik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eprocessing steps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3754407" y="6956632"/>
            <a:ext cx="4348725" cy="2874498"/>
          </a:xfrm>
          <a:custGeom>
            <a:avLst/>
            <a:gdLst/>
            <a:ahLst/>
            <a:cxnLst/>
            <a:rect l="l" t="t" r="r" b="b"/>
            <a:pathLst>
              <a:path w="4348725" h="2874498">
                <a:moveTo>
                  <a:pt x="0" y="0"/>
                </a:moveTo>
                <a:lnTo>
                  <a:pt x="4348725" y="0"/>
                </a:lnTo>
                <a:lnTo>
                  <a:pt x="4348725" y="2874498"/>
                </a:lnTo>
                <a:lnTo>
                  <a:pt x="0" y="2874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09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809687" y="6733973"/>
            <a:ext cx="4571175" cy="3319816"/>
          </a:xfrm>
          <a:custGeom>
            <a:avLst/>
            <a:gdLst/>
            <a:ahLst/>
            <a:cxnLst/>
            <a:rect l="l" t="t" r="r" b="b"/>
            <a:pathLst>
              <a:path w="4571175" h="3319816">
                <a:moveTo>
                  <a:pt x="0" y="0"/>
                </a:moveTo>
                <a:lnTo>
                  <a:pt x="4571175" y="0"/>
                </a:lnTo>
                <a:lnTo>
                  <a:pt x="4571175" y="3319816"/>
                </a:lnTo>
                <a:lnTo>
                  <a:pt x="0" y="3319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04697" y="6850680"/>
            <a:ext cx="3331446" cy="3260214"/>
          </a:xfrm>
          <a:custGeom>
            <a:avLst/>
            <a:gdLst/>
            <a:ahLst/>
            <a:cxnLst/>
            <a:rect l="l" t="t" r="r" b="b"/>
            <a:pathLst>
              <a:path w="3331446" h="3260214">
                <a:moveTo>
                  <a:pt x="0" y="0"/>
                </a:moveTo>
                <a:lnTo>
                  <a:pt x="3331445" y="0"/>
                </a:lnTo>
                <a:lnTo>
                  <a:pt x="3331445" y="3260214"/>
                </a:lnTo>
                <a:lnTo>
                  <a:pt x="0" y="3260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616335" y="3689499"/>
            <a:ext cx="5486797" cy="2908003"/>
          </a:xfrm>
          <a:custGeom>
            <a:avLst/>
            <a:gdLst/>
            <a:ahLst/>
            <a:cxnLst/>
            <a:rect l="l" t="t" r="r" b="b"/>
            <a:pathLst>
              <a:path w="5486797" h="2908003">
                <a:moveTo>
                  <a:pt x="0" y="0"/>
                </a:moveTo>
                <a:lnTo>
                  <a:pt x="5486797" y="0"/>
                </a:lnTo>
                <a:lnTo>
                  <a:pt x="5486797" y="2908002"/>
                </a:lnTo>
                <a:lnTo>
                  <a:pt x="0" y="2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88628" y="7185285"/>
            <a:ext cx="3354964" cy="2925609"/>
          </a:xfrm>
          <a:custGeom>
            <a:avLst/>
            <a:gdLst/>
            <a:ahLst/>
            <a:cxnLst/>
            <a:rect l="l" t="t" r="r" b="b"/>
            <a:pathLst>
              <a:path w="3354964" h="2925609">
                <a:moveTo>
                  <a:pt x="0" y="0"/>
                </a:moveTo>
                <a:lnTo>
                  <a:pt x="3354964" y="0"/>
                </a:lnTo>
                <a:lnTo>
                  <a:pt x="3354964" y="2925609"/>
                </a:lnTo>
                <a:lnTo>
                  <a:pt x="0" y="29256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58966"/>
            <a:ext cx="13482639" cy="96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76"/>
              </a:lnSpc>
              <a:spcBef>
                <a:spcPct val="0"/>
              </a:spcBef>
            </a:pPr>
            <a:r>
              <a:rPr lang="en-US" sz="5697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</a:t>
            </a:r>
            <a:r>
              <a:rPr lang="en-US" sz="5697" b="1" u="none" strike="noStrik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EXPLORATION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7249" y="1106192"/>
            <a:ext cx="12567066" cy="100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6" spc="-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Because the datas</a:t>
            </a:r>
            <a:r>
              <a:rPr lang="en-US" sz="2176" u="none" strike="noStrike" spc="-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 contains many missing</a:t>
            </a:r>
            <a:r>
              <a:rPr lang="en-US" sz="2176" b="1" u="none" strike="noStrike" spc="-4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Age</a:t>
            </a:r>
            <a:r>
              <a:rPr lang="en-US" sz="2176" u="none" strike="noStrike" spc="-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values, I decided to fill them using an </a:t>
            </a:r>
            <a:r>
              <a:rPr lang="en-US" sz="2176" b="1" u="none" strike="noStrike" spc="-4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XGBoost Regressor </a:t>
            </a:r>
            <a:r>
              <a:rPr lang="en-US" sz="2176" u="none" strike="noStrike" spc="-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based on other features, which helped improve performance.</a:t>
            </a:r>
          </a:p>
          <a:p>
            <a:pPr marL="0" lvl="0" indent="0" algn="l">
              <a:lnSpc>
                <a:spcPts val="1787"/>
              </a:lnSpc>
              <a:spcBef>
                <a:spcPct val="0"/>
              </a:spcBef>
            </a:pPr>
            <a:endParaRPr lang="en-US" sz="2176" u="none" strike="noStrike" spc="-4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47818" y="2549694"/>
            <a:ext cx="7422201" cy="5210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2"/>
              </a:lnSpc>
            </a:pPr>
            <a:endParaRPr/>
          </a:p>
          <a:p>
            <a:pPr marL="489226" lvl="1" indent="-244613" algn="l">
              <a:lnSpc>
                <a:spcPts val="3172"/>
              </a:lnSpc>
              <a:spcBef>
                <a:spcPct val="0"/>
              </a:spcBef>
              <a:buFont typeface="Arial"/>
              <a:buChar char="•"/>
            </a:pPr>
            <a:r>
              <a:rPr lang="en-US" sz="2265" b="1" spc="-4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Survival Imbalance: 38%</a:t>
            </a:r>
            <a:r>
              <a:rPr lang="en-US" sz="2265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survived.</a:t>
            </a:r>
          </a:p>
          <a:p>
            <a:pPr marL="489226" lvl="1" indent="-244613" algn="l">
              <a:lnSpc>
                <a:spcPts val="3172"/>
              </a:lnSpc>
              <a:spcBef>
                <a:spcPct val="0"/>
              </a:spcBef>
              <a:buFont typeface="Arial"/>
              <a:buChar char="•"/>
            </a:pPr>
            <a:r>
              <a:rPr lang="en-US" sz="2265" b="1" u="none" strike="noStrike" spc="-4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Sex: </a:t>
            </a:r>
            <a:r>
              <a:rPr lang="en-US" sz="2265" u="none" strike="noStrike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Higher survival for females (74%) than males (19%).</a:t>
            </a:r>
          </a:p>
          <a:p>
            <a:pPr marL="489226" lvl="1" indent="-244613" algn="l">
              <a:lnSpc>
                <a:spcPts val="3172"/>
              </a:lnSpc>
              <a:spcBef>
                <a:spcPct val="0"/>
              </a:spcBef>
              <a:buFont typeface="Arial"/>
              <a:buChar char="•"/>
            </a:pPr>
            <a:r>
              <a:rPr lang="en-US" sz="2265" b="1" u="none" strike="noStrike" spc="-4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Pclass: </a:t>
            </a:r>
            <a:r>
              <a:rPr lang="en-US" sz="2265" u="none" strike="noStrike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First-class (63%) survived most, third-class (24%) least.</a:t>
            </a:r>
          </a:p>
          <a:p>
            <a:pPr marL="489226" lvl="1" indent="-244613" algn="l">
              <a:lnSpc>
                <a:spcPts val="3172"/>
              </a:lnSpc>
              <a:spcBef>
                <a:spcPct val="0"/>
              </a:spcBef>
              <a:buFont typeface="Arial"/>
              <a:buChar char="•"/>
            </a:pPr>
            <a:r>
              <a:rPr lang="en-US" sz="2265" b="1" u="none" strike="noStrike" spc="-4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Age: </a:t>
            </a:r>
            <a:r>
              <a:rPr lang="en-US" sz="2265" u="none" strike="noStrike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Younger passengers had better survival; an 80-year-old also survived.</a:t>
            </a:r>
          </a:p>
          <a:p>
            <a:pPr marL="489226" lvl="1" indent="-244613" algn="l">
              <a:lnSpc>
                <a:spcPts val="3172"/>
              </a:lnSpc>
              <a:spcBef>
                <a:spcPct val="0"/>
              </a:spcBef>
              <a:buFont typeface="Arial"/>
              <a:buChar char="•"/>
            </a:pPr>
            <a:r>
              <a:rPr lang="en-US" sz="2265" b="1" u="none" strike="noStrike" spc="-4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Embarked: </a:t>
            </a:r>
            <a:r>
              <a:rPr lang="en-US" sz="2265" u="none" strike="noStrike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Highest survival at Cherbourg (55%).</a:t>
            </a:r>
          </a:p>
          <a:p>
            <a:pPr marL="489226" lvl="1" indent="-244613" algn="l">
              <a:lnSpc>
                <a:spcPts val="3172"/>
              </a:lnSpc>
              <a:spcBef>
                <a:spcPct val="0"/>
              </a:spcBef>
              <a:buFont typeface="Arial"/>
              <a:buChar char="•"/>
            </a:pPr>
            <a:r>
              <a:rPr lang="en-US" sz="2265" b="1" u="none" strike="noStrike" spc="-4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Family: </a:t>
            </a:r>
            <a:r>
              <a:rPr lang="en-US" sz="2265" u="none" strike="noStrike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Small families fared better; solo travelers had lower survival.</a:t>
            </a:r>
          </a:p>
          <a:p>
            <a:pPr algn="l">
              <a:lnSpc>
                <a:spcPts val="3172"/>
              </a:lnSpc>
              <a:spcBef>
                <a:spcPct val="0"/>
              </a:spcBef>
            </a:pPr>
            <a:endParaRPr lang="en-US" sz="2265" u="none" strike="noStrike" spc="-4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172"/>
              </a:lnSpc>
              <a:spcBef>
                <a:spcPct val="0"/>
              </a:spcBef>
            </a:pPr>
            <a:endParaRPr lang="en-US" sz="2265" u="none" strike="noStrike" spc="-4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986070" y="1584302"/>
            <a:ext cx="5864024" cy="2339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6877" lvl="1" indent="-238439" algn="l">
              <a:lnSpc>
                <a:spcPts val="3092"/>
              </a:lnSpc>
              <a:buFont typeface="Arial"/>
              <a:buChar char="•"/>
            </a:pPr>
            <a:r>
              <a:rPr lang="en-US" sz="2208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Handl</a:t>
            </a:r>
            <a:r>
              <a:rPr lang="en-US" sz="2208" u="none" strike="noStrike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 missing values (age, embarked, cabin)</a:t>
            </a:r>
          </a:p>
          <a:p>
            <a:pPr marL="476877" lvl="1" indent="-238439" algn="l">
              <a:lnSpc>
                <a:spcPts val="3092"/>
              </a:lnSpc>
              <a:buFont typeface="Arial"/>
              <a:buChar char="•"/>
            </a:pPr>
            <a:r>
              <a:rPr lang="en-US" sz="2208" u="none" strike="noStrike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Encoding categorical variables</a:t>
            </a:r>
          </a:p>
          <a:p>
            <a:pPr marL="476877" lvl="1" indent="-238439" algn="l">
              <a:lnSpc>
                <a:spcPts val="3092"/>
              </a:lnSpc>
              <a:buFont typeface="Arial"/>
              <a:buChar char="•"/>
            </a:pPr>
            <a:r>
              <a:rPr lang="en-US" sz="2208" u="none" strike="noStrike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Feature scaling where necessary(create bins)</a:t>
            </a:r>
          </a:p>
          <a:p>
            <a:pPr algn="l">
              <a:lnSpc>
                <a:spcPts val="3092"/>
              </a:lnSpc>
            </a:pPr>
            <a:endParaRPr lang="en-US" sz="2208" u="none" strike="noStrike" spc="-4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5255" y="123768"/>
            <a:ext cx="14822429" cy="219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MODELING SELECTION</a:t>
            </a:r>
          </a:p>
          <a:p>
            <a:pPr algn="l">
              <a:lnSpc>
                <a:spcPts val="5880"/>
              </a:lnSpc>
            </a:pPr>
            <a:endParaRPr lang="en-US" sz="4200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5880"/>
              </a:lnSpc>
              <a:spcBef>
                <a:spcPct val="0"/>
              </a:spcBef>
            </a:pPr>
            <a:endParaRPr lang="en-US" sz="4200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7085787" y="2517115"/>
            <a:ext cx="4116426" cy="3416873"/>
          </a:xfrm>
          <a:custGeom>
            <a:avLst/>
            <a:gdLst/>
            <a:ahLst/>
            <a:cxnLst/>
            <a:rect l="l" t="t" r="r" b="b"/>
            <a:pathLst>
              <a:path w="4116426" h="3416873">
                <a:moveTo>
                  <a:pt x="0" y="0"/>
                </a:moveTo>
                <a:lnTo>
                  <a:pt x="4116426" y="0"/>
                </a:lnTo>
                <a:lnTo>
                  <a:pt x="4116426" y="3416873"/>
                </a:lnTo>
                <a:lnTo>
                  <a:pt x="0" y="3416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6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675867" y="2774380"/>
            <a:ext cx="4012894" cy="2872667"/>
          </a:xfrm>
          <a:custGeom>
            <a:avLst/>
            <a:gdLst/>
            <a:ahLst/>
            <a:cxnLst/>
            <a:rect l="l" t="t" r="r" b="b"/>
            <a:pathLst>
              <a:path w="4012894" h="2872667">
                <a:moveTo>
                  <a:pt x="0" y="0"/>
                </a:moveTo>
                <a:lnTo>
                  <a:pt x="4012894" y="0"/>
                </a:lnTo>
                <a:lnTo>
                  <a:pt x="4012894" y="2872668"/>
                </a:lnTo>
                <a:lnTo>
                  <a:pt x="0" y="2872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46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99540" y="2963366"/>
            <a:ext cx="3787710" cy="2180134"/>
          </a:xfrm>
          <a:custGeom>
            <a:avLst/>
            <a:gdLst/>
            <a:ahLst/>
            <a:cxnLst/>
            <a:rect l="l" t="t" r="r" b="b"/>
            <a:pathLst>
              <a:path w="3787710" h="2180134">
                <a:moveTo>
                  <a:pt x="0" y="0"/>
                </a:moveTo>
                <a:lnTo>
                  <a:pt x="3787710" y="0"/>
                </a:lnTo>
                <a:lnTo>
                  <a:pt x="3787710" y="2180134"/>
                </a:lnTo>
                <a:lnTo>
                  <a:pt x="0" y="21801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149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0079" y="879752"/>
            <a:ext cx="16989221" cy="896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7"/>
              </a:lnSpc>
            </a:pPr>
            <a:endParaRPr dirty="0"/>
          </a:p>
          <a:p>
            <a:pPr algn="just">
              <a:lnSpc>
                <a:spcPts val="3227"/>
              </a:lnSpc>
            </a:pPr>
            <a:endParaRPr dirty="0"/>
          </a:p>
          <a:p>
            <a:pPr algn="just">
              <a:lnSpc>
                <a:spcPts val="3227"/>
              </a:lnSpc>
            </a:pPr>
            <a:r>
              <a:rPr lang="en-US" sz="2305" b="1" spc="-46" dirty="0">
                <a:solidFill>
                  <a:srgbClr val="EBA921"/>
                </a:solidFill>
                <a:latin typeface="Poppins Bold"/>
                <a:ea typeface="Poppins Bold"/>
                <a:cs typeface="Poppins Bold"/>
                <a:sym typeface="Poppins Bold"/>
              </a:rPr>
              <a:t>Tested as an alternative</a:t>
            </a:r>
            <a:r>
              <a:rPr lang="en-US" sz="2305" spc="-46" dirty="0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305" b="1" spc="-46" dirty="0" err="1">
                <a:solidFill>
                  <a:srgbClr val="00569E"/>
                </a:solidFill>
                <a:latin typeface="Poppins Bold"/>
                <a:ea typeface="Poppins Bold"/>
                <a:cs typeface="Poppins Bold"/>
                <a:sym typeface="Poppins Bold"/>
              </a:rPr>
              <a:t>XGBoost</a:t>
            </a:r>
            <a:r>
              <a:rPr lang="en-US" sz="2305" b="1" spc="-46" dirty="0">
                <a:solidFill>
                  <a:srgbClr val="00569E"/>
                </a:solidFill>
                <a:latin typeface="Poppins Bold"/>
                <a:ea typeface="Poppins Bold"/>
                <a:cs typeface="Poppins Bold"/>
                <a:sym typeface="Poppins Bold"/>
              </a:rPr>
              <a:t>.             </a:t>
            </a:r>
          </a:p>
          <a:p>
            <a:pPr algn="just">
              <a:lnSpc>
                <a:spcPts val="3227"/>
              </a:lnSpc>
            </a:pPr>
            <a:r>
              <a:rPr lang="en-US" sz="2305" b="1" spc="-46" dirty="0">
                <a:solidFill>
                  <a:srgbClr val="EBA921"/>
                </a:solidFill>
                <a:latin typeface="Poppins Bold"/>
                <a:ea typeface="Poppins Bold"/>
                <a:cs typeface="Poppins Bold"/>
                <a:sym typeface="Poppins Bold"/>
              </a:rPr>
              <a:t>Model Chosen:</a:t>
            </a:r>
            <a:r>
              <a:rPr lang="en-US" sz="2305" spc="-46" dirty="0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05" b="1" spc="-46" dirty="0">
                <a:solidFill>
                  <a:srgbClr val="0C5593"/>
                </a:solidFill>
                <a:latin typeface="Poppins Bold"/>
                <a:ea typeface="Poppins Bold"/>
                <a:cs typeface="Poppins Bold"/>
                <a:sym typeface="Poppins Bold"/>
              </a:rPr>
              <a:t>Logistic Regression</a:t>
            </a:r>
          </a:p>
          <a:p>
            <a:pPr algn="just">
              <a:lnSpc>
                <a:spcPts val="3227"/>
              </a:lnSpc>
            </a:pPr>
            <a:endParaRPr lang="en-US" sz="2305" b="1" spc="-46" dirty="0">
              <a:solidFill>
                <a:srgbClr val="0C5593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227"/>
              </a:lnSpc>
            </a:pPr>
            <a:endParaRPr lang="en-US" sz="2305" b="1" spc="-46" dirty="0">
              <a:solidFill>
                <a:srgbClr val="0C5593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227"/>
              </a:lnSpc>
            </a:pPr>
            <a:endParaRPr lang="en-US" sz="2305" b="1" spc="-46" dirty="0">
              <a:solidFill>
                <a:srgbClr val="0C5593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227"/>
              </a:lnSpc>
            </a:pPr>
            <a:endParaRPr lang="en-US" sz="2305" b="1" spc="-46" dirty="0">
              <a:solidFill>
                <a:srgbClr val="0C5593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227"/>
              </a:lnSpc>
            </a:pPr>
            <a:endParaRPr lang="en-US" sz="2305" b="1" spc="-46" dirty="0">
              <a:solidFill>
                <a:srgbClr val="0C5593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227"/>
              </a:lnSpc>
            </a:pPr>
            <a:endParaRPr lang="en-US" sz="2305" b="1" spc="-46" dirty="0">
              <a:solidFill>
                <a:srgbClr val="0C5593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227"/>
              </a:lnSpc>
            </a:pPr>
            <a:r>
              <a:rPr lang="en-US" sz="2305" b="1" spc="-46" dirty="0">
                <a:solidFill>
                  <a:srgbClr val="EBA921"/>
                </a:solidFill>
                <a:latin typeface="Poppins Bold"/>
                <a:ea typeface="Poppins Bold"/>
                <a:cs typeface="Poppins Bold"/>
                <a:sym typeface="Poppins Bold"/>
              </a:rPr>
              <a:t>      </a:t>
            </a:r>
          </a:p>
          <a:p>
            <a:pPr algn="just">
              <a:lnSpc>
                <a:spcPts val="3227"/>
              </a:lnSpc>
            </a:pPr>
            <a:endParaRPr lang="en-US" sz="2305" b="1" spc="-46" dirty="0">
              <a:solidFill>
                <a:srgbClr val="EBA921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227"/>
              </a:lnSpc>
            </a:pPr>
            <a:r>
              <a:rPr lang="en-US" sz="2305" b="1" spc="-46" dirty="0">
                <a:solidFill>
                  <a:srgbClr val="EBA921"/>
                </a:solidFill>
                <a:latin typeface="Poppins Bold"/>
                <a:ea typeface="Poppins Bold"/>
                <a:cs typeface="Poppins Bold"/>
                <a:sym typeface="Poppins Bold"/>
              </a:rPr>
              <a:t>Reasons</a:t>
            </a:r>
          </a:p>
          <a:p>
            <a:pPr algn="l">
              <a:lnSpc>
                <a:spcPts val="3227"/>
              </a:lnSpc>
            </a:pPr>
            <a:r>
              <a:rPr lang="en-US" sz="2305" spc="-46" dirty="0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Well-suited for binary classification problems like survival prediction.</a:t>
            </a:r>
          </a:p>
          <a:p>
            <a:pPr algn="l">
              <a:lnSpc>
                <a:spcPts val="3227"/>
              </a:lnSpc>
            </a:pPr>
            <a:r>
              <a:rPr lang="en-US" sz="2305" spc="-46" dirty="0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Provides probability scores for each prediction, aiding analysis.</a:t>
            </a:r>
          </a:p>
          <a:p>
            <a:pPr algn="l">
              <a:lnSpc>
                <a:spcPts val="3227"/>
              </a:lnSpc>
            </a:pPr>
            <a:r>
              <a:rPr lang="en-US" sz="2305" spc="-46" dirty="0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Delivered solid performance, achieving </a:t>
            </a:r>
            <a:r>
              <a:rPr lang="en-US" sz="2305" b="1" spc="-46" dirty="0">
                <a:solidFill>
                  <a:srgbClr val="00569E"/>
                </a:solidFill>
                <a:latin typeface="Poppins Bold"/>
                <a:ea typeface="Poppins Bold"/>
                <a:cs typeface="Poppins Bold"/>
                <a:sym typeface="Poppins Bold"/>
              </a:rPr>
              <a:t>83.72%</a:t>
            </a:r>
            <a:r>
              <a:rPr lang="en-US" sz="2305" spc="-46" dirty="0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 accuracy, </a:t>
            </a:r>
            <a:r>
              <a:rPr lang="en-US" sz="2305" b="1" spc="-46" dirty="0">
                <a:solidFill>
                  <a:srgbClr val="00569E"/>
                </a:solidFill>
                <a:latin typeface="Poppins Bold"/>
                <a:ea typeface="Poppins Bold"/>
                <a:cs typeface="Poppins Bold"/>
                <a:sym typeface="Poppins Bold"/>
              </a:rPr>
              <a:t>81.3%</a:t>
            </a:r>
            <a:r>
              <a:rPr lang="en-US" sz="2305" spc="-46" dirty="0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 precision, </a:t>
            </a:r>
            <a:r>
              <a:rPr lang="en-US" sz="2305" b="1" spc="-46" dirty="0">
                <a:solidFill>
                  <a:srgbClr val="00569E"/>
                </a:solidFill>
                <a:latin typeface="Poppins Bold"/>
                <a:ea typeface="Poppins Bold"/>
                <a:cs typeface="Poppins Bold"/>
                <a:sym typeface="Poppins Bold"/>
              </a:rPr>
              <a:t>70.92%</a:t>
            </a:r>
            <a:r>
              <a:rPr lang="en-US" sz="2305" spc="-46" dirty="0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 recall, and an F1-score of </a:t>
            </a:r>
            <a:r>
              <a:rPr lang="en-US" sz="2305" b="1" spc="-46" dirty="0">
                <a:solidFill>
                  <a:srgbClr val="00569E"/>
                </a:solidFill>
                <a:latin typeface="Poppins Bold"/>
                <a:ea typeface="Poppins Bold"/>
                <a:cs typeface="Poppins Bold"/>
                <a:sym typeface="Poppins Bold"/>
              </a:rPr>
              <a:t>0.7576</a:t>
            </a:r>
          </a:p>
          <a:p>
            <a:pPr algn="just">
              <a:lnSpc>
                <a:spcPts val="3227"/>
              </a:lnSpc>
            </a:pPr>
            <a:endParaRPr lang="en-US" sz="2305" b="1" spc="-46" dirty="0">
              <a:solidFill>
                <a:srgbClr val="00569E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227"/>
              </a:lnSpc>
            </a:pPr>
            <a:r>
              <a:rPr lang="en-US" sz="2305" b="1" spc="-46" dirty="0">
                <a:solidFill>
                  <a:srgbClr val="EBA921"/>
                </a:solidFill>
                <a:latin typeface="Poppins Bold"/>
                <a:ea typeface="Poppins Bold"/>
                <a:cs typeface="Poppins Bold"/>
                <a:sym typeface="Poppins Bold"/>
              </a:rPr>
              <a:t>Training Process</a:t>
            </a:r>
          </a:p>
          <a:p>
            <a:pPr algn="just">
              <a:lnSpc>
                <a:spcPts val="3227"/>
              </a:lnSpc>
            </a:pPr>
            <a:r>
              <a:rPr lang="en-US" sz="2305" spc="-46" dirty="0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Applied feature scaling to improve performance.</a:t>
            </a:r>
          </a:p>
          <a:p>
            <a:pPr algn="just">
              <a:lnSpc>
                <a:spcPts val="3227"/>
              </a:lnSpc>
            </a:pPr>
            <a:r>
              <a:rPr lang="en-US" sz="2305" spc="-46" dirty="0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Evaluated using accuracy, precision, recall, and F1-score.</a:t>
            </a:r>
          </a:p>
          <a:p>
            <a:pPr algn="just">
              <a:lnSpc>
                <a:spcPts val="3227"/>
              </a:lnSpc>
            </a:pPr>
            <a:r>
              <a:rPr lang="en-US" sz="2305" spc="-46" dirty="0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The model was evaluated using </a:t>
            </a:r>
            <a:r>
              <a:rPr lang="en-US" sz="2305" b="1" spc="-46" dirty="0">
                <a:solidFill>
                  <a:srgbClr val="00569E"/>
                </a:solidFill>
                <a:latin typeface="Poppins Bold"/>
                <a:ea typeface="Poppins Bold"/>
                <a:cs typeface="Poppins Bold"/>
                <a:sym typeface="Poppins Bold"/>
              </a:rPr>
              <a:t>ROC curve</a:t>
            </a:r>
            <a:r>
              <a:rPr lang="en-US" sz="2305" spc="-46" dirty="0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2305" b="1" spc="-46" dirty="0">
                <a:solidFill>
                  <a:srgbClr val="00569E"/>
                </a:solidFill>
                <a:latin typeface="Poppins Bold"/>
                <a:ea typeface="Poppins Bold"/>
                <a:cs typeface="Poppins Bold"/>
                <a:sym typeface="Poppins Bold"/>
              </a:rPr>
              <a:t>AUC score[ 0.8501] </a:t>
            </a:r>
            <a:r>
              <a:rPr lang="en-US" sz="2305" spc="-46" dirty="0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to assess its classification performance.</a:t>
            </a:r>
          </a:p>
          <a:p>
            <a:pPr marL="0" lvl="0" indent="0" algn="l">
              <a:lnSpc>
                <a:spcPts val="2679"/>
              </a:lnSpc>
              <a:spcBef>
                <a:spcPct val="0"/>
              </a:spcBef>
            </a:pPr>
            <a:endParaRPr lang="en-US" sz="2305" spc="-46" dirty="0">
              <a:solidFill>
                <a:srgbClr val="0056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95255" y="1159486"/>
            <a:ext cx="10976779" cy="1162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2234" b="1" dirty="0">
                <a:solidFill>
                  <a:srgbClr val="0932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EXAMINED TWO METHODS:  LOGISTIC REGRESSION AND XGBOOST.</a:t>
            </a:r>
          </a:p>
          <a:p>
            <a:pPr algn="l">
              <a:lnSpc>
                <a:spcPts val="3128"/>
              </a:lnSpc>
            </a:pPr>
            <a:endParaRPr lang="en-US" sz="2234" b="1" dirty="0">
              <a:solidFill>
                <a:srgbClr val="09326D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128"/>
              </a:lnSpc>
              <a:spcBef>
                <a:spcPct val="0"/>
              </a:spcBef>
            </a:pPr>
            <a:r>
              <a:rPr lang="en-US" sz="2234" b="1" dirty="0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35200" y="9581977"/>
            <a:ext cx="6009656" cy="1162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2000" b="1" dirty="0">
                <a:solidFill>
                  <a:srgbClr val="EBA92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KAGLLE SCORE: 0.85279</a:t>
            </a:r>
          </a:p>
          <a:p>
            <a:pPr algn="l">
              <a:lnSpc>
                <a:spcPts val="3128"/>
              </a:lnSpc>
            </a:pPr>
            <a:endParaRPr lang="en-US" sz="2234" b="1" dirty="0">
              <a:solidFill>
                <a:srgbClr val="EBA92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128"/>
              </a:lnSpc>
              <a:spcBef>
                <a:spcPct val="0"/>
              </a:spcBef>
            </a:pPr>
            <a:endParaRPr lang="en-US" sz="2234" b="1" dirty="0">
              <a:solidFill>
                <a:srgbClr val="EBA92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9212" y="2045004"/>
            <a:ext cx="15633253" cy="6727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endParaRPr/>
          </a:p>
          <a:p>
            <a:pPr algn="l">
              <a:lnSpc>
                <a:spcPts val="3887"/>
              </a:lnSpc>
            </a:pPr>
            <a:r>
              <a:rPr lang="en-US" sz="2776" b="1" spc="-55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</a:t>
            </a:r>
            <a:r>
              <a:rPr lang="en-US" sz="2776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776" b="1" spc="-55">
                <a:solidFill>
                  <a:srgbClr val="EBA921"/>
                </a:solidFill>
                <a:latin typeface="Poppins Bold"/>
                <a:ea typeface="Poppins Bold"/>
                <a:cs typeface="Poppins Bold"/>
                <a:sym typeface="Poppins Bold"/>
              </a:rPr>
              <a:t>Handling Missing Data:</a:t>
            </a:r>
          </a:p>
          <a:p>
            <a:pPr marL="1199019" lvl="2" indent="-399673" algn="l">
              <a:lnSpc>
                <a:spcPts val="3887"/>
              </a:lnSpc>
              <a:buFont typeface="Arial"/>
              <a:buChar char="⚬"/>
            </a:pPr>
            <a:r>
              <a:rPr lang="en-US" sz="2776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Age: Missing Age values were filled using an </a:t>
            </a:r>
            <a:r>
              <a:rPr lang="en-US" sz="2776" b="1" spc="-55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XGBoost </a:t>
            </a:r>
            <a:r>
              <a:rPr lang="en-US" sz="2776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model, which predicted ages based on other features, improving model performance.</a:t>
            </a:r>
          </a:p>
          <a:p>
            <a:pPr algn="l">
              <a:lnSpc>
                <a:spcPts val="3887"/>
              </a:lnSpc>
            </a:pPr>
            <a:endParaRPr lang="en-US" sz="2776" spc="-55">
              <a:solidFill>
                <a:srgbClr val="145DA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887"/>
              </a:lnSpc>
            </a:pPr>
            <a:r>
              <a:rPr lang="en-US" sz="2776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     </a:t>
            </a:r>
            <a:r>
              <a:rPr lang="en-US" sz="2776" b="1" spc="-55">
                <a:solidFill>
                  <a:srgbClr val="EBA921"/>
                </a:solidFill>
                <a:latin typeface="Poppins Bold"/>
                <a:ea typeface="Poppins Bold"/>
                <a:cs typeface="Poppins Bold"/>
                <a:sym typeface="Poppins Bold"/>
              </a:rPr>
              <a:t>   Key Insights: </a:t>
            </a:r>
          </a:p>
          <a:p>
            <a:pPr marL="1199019" lvl="2" indent="-399673" algn="l">
              <a:lnSpc>
                <a:spcPts val="3887"/>
              </a:lnSpc>
              <a:spcBef>
                <a:spcPct val="0"/>
              </a:spcBef>
              <a:buFont typeface="Arial"/>
              <a:buChar char="⚬"/>
            </a:pPr>
            <a:r>
              <a:rPr lang="en-US" sz="2776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Females and first-class passengers had higher survival rates. Higher fares and smaller families improved sur</a:t>
            </a:r>
            <a:r>
              <a:rPr lang="en-US" sz="2776" u="none" strike="noStrike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776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ival chances.</a:t>
            </a:r>
          </a:p>
          <a:p>
            <a:pPr algn="l">
              <a:lnSpc>
                <a:spcPts val="3887"/>
              </a:lnSpc>
              <a:spcBef>
                <a:spcPct val="0"/>
              </a:spcBef>
            </a:pPr>
            <a:endParaRPr lang="en-US" sz="2776" spc="-55">
              <a:solidFill>
                <a:srgbClr val="145DA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887"/>
              </a:lnSpc>
              <a:spcBef>
                <a:spcPct val="0"/>
              </a:spcBef>
            </a:pPr>
            <a:r>
              <a:rPr lang="en-US" sz="2776" u="none" strike="noStrike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        </a:t>
            </a:r>
            <a:r>
              <a:rPr lang="en-US" sz="2776" b="1" u="none" strike="noStrike" spc="-55">
                <a:solidFill>
                  <a:srgbClr val="EBA921"/>
                </a:solidFill>
                <a:latin typeface="Poppins Bold"/>
                <a:ea typeface="Poppins Bold"/>
                <a:cs typeface="Poppins Bold"/>
                <a:sym typeface="Poppins Bold"/>
              </a:rPr>
              <a:t> M</a:t>
            </a:r>
            <a:r>
              <a:rPr lang="en-US" sz="2776" b="1" spc="-55">
                <a:solidFill>
                  <a:srgbClr val="EBA921"/>
                </a:solidFill>
                <a:latin typeface="Poppins Bold"/>
                <a:ea typeface="Poppins Bold"/>
                <a:cs typeface="Poppins Bold"/>
                <a:sym typeface="Poppins Bold"/>
              </a:rPr>
              <a:t>ode</a:t>
            </a:r>
            <a:r>
              <a:rPr lang="en-US" sz="2776" b="1" u="none" strike="noStrike" spc="-55">
                <a:solidFill>
                  <a:srgbClr val="EBA921"/>
                </a:solidFill>
                <a:latin typeface="Poppins Bold"/>
                <a:ea typeface="Poppins Bold"/>
                <a:cs typeface="Poppins Bold"/>
                <a:sym typeface="Poppins Bold"/>
              </a:rPr>
              <a:t>l Us</a:t>
            </a:r>
            <a:r>
              <a:rPr lang="en-US" sz="2776" b="1" spc="-55">
                <a:solidFill>
                  <a:srgbClr val="EBA921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sz="2776" b="1" u="none" strike="noStrike" spc="-55">
                <a:solidFill>
                  <a:srgbClr val="EBA921"/>
                </a:solidFill>
                <a:latin typeface="Poppins Bold"/>
                <a:ea typeface="Poppins Bold"/>
                <a:cs typeface="Poppins Bold"/>
                <a:sym typeface="Poppins Bold"/>
              </a:rPr>
              <a:t>d:</a:t>
            </a:r>
          </a:p>
          <a:p>
            <a:pPr marL="1199019" lvl="2" indent="-399673" algn="l">
              <a:lnSpc>
                <a:spcPts val="3887"/>
              </a:lnSpc>
              <a:spcBef>
                <a:spcPct val="0"/>
              </a:spcBef>
              <a:buFont typeface="Arial"/>
              <a:buChar char="⚬"/>
            </a:pPr>
            <a:r>
              <a:rPr lang="en-US" sz="2776" u="none" strike="noStrike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Log</a:t>
            </a:r>
            <a:r>
              <a:rPr lang="en-US" sz="2776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istic</a:t>
            </a:r>
            <a:r>
              <a:rPr lang="en-US" sz="2776" u="none" strike="noStrike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 Regression w</a:t>
            </a:r>
            <a:r>
              <a:rPr lang="en-US" sz="2776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as chosen for predicting surviv</a:t>
            </a:r>
            <a:r>
              <a:rPr lang="en-US" sz="2776" u="none" strike="noStrike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al</a:t>
            </a:r>
            <a:r>
              <a:rPr lang="en-US" sz="2776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 du</a:t>
            </a:r>
            <a:r>
              <a:rPr lang="en-US" sz="2776" u="none" strike="noStrike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e to </a:t>
            </a:r>
            <a:r>
              <a:rPr lang="en-US" sz="2776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76" u="none" strike="noStrike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ts</a:t>
            </a:r>
            <a:r>
              <a:rPr lang="en-US" sz="2776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 simplicity, interpr</a:t>
            </a:r>
            <a:r>
              <a:rPr lang="en-US" sz="2776" u="none" strike="noStrike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etabi</a:t>
            </a:r>
            <a:r>
              <a:rPr lang="en-US" sz="2776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lity, and</a:t>
            </a:r>
            <a:r>
              <a:rPr lang="en-US" sz="2776" u="none" strike="noStrike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 sol</a:t>
            </a:r>
            <a:r>
              <a:rPr lang="en-US" sz="2776" spc="-5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id performance.</a:t>
            </a:r>
          </a:p>
          <a:p>
            <a:pPr algn="l">
              <a:lnSpc>
                <a:spcPts val="3887"/>
              </a:lnSpc>
              <a:spcBef>
                <a:spcPct val="0"/>
              </a:spcBef>
            </a:pPr>
            <a:endParaRPr lang="en-US" sz="2776" spc="-55">
              <a:solidFill>
                <a:srgbClr val="145DA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187"/>
              </a:lnSpc>
              <a:spcBef>
                <a:spcPct val="0"/>
              </a:spcBef>
            </a:pPr>
            <a:endParaRPr lang="en-US" sz="2776" spc="-55">
              <a:solidFill>
                <a:srgbClr val="145DA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49455" y="942975"/>
            <a:ext cx="11424139" cy="77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0"/>
              </a:lnSpc>
              <a:spcBef>
                <a:spcPct val="0"/>
              </a:spcBef>
            </a:pPr>
            <a:r>
              <a:rPr lang="en-US" sz="4600" b="1">
                <a:solidFill>
                  <a:srgbClr val="00569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🚀 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76600" y="3771924"/>
            <a:ext cx="12001418" cy="1371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dirty="0">
                <a:solidFill>
                  <a:srgbClr val="00569E"/>
                </a:solidFill>
                <a:latin typeface="Cardo Bold"/>
                <a:ea typeface="Cardo Bold"/>
                <a:cs typeface="Cardo Bold"/>
                <a:sym typeface="Cardo Bold"/>
              </a:rPr>
              <a:t>THANK YOU!</a:t>
            </a:r>
            <a:r>
              <a:rPr lang="en-US" sz="9000" b="1" dirty="0">
                <a:solidFill>
                  <a:srgbClr val="EBA921"/>
                </a:solidFill>
                <a:latin typeface="Cardo Bold"/>
                <a:ea typeface="Cardo Bold"/>
                <a:cs typeface="Cardo Bold"/>
                <a:sym typeface="Cardo Bold"/>
              </a:rPr>
              <a:t> 🚀😊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403</Words>
  <Application>Microsoft Office PowerPoint</Application>
  <PresentationFormat>Custom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Montserrat Bold</vt:lpstr>
      <vt:lpstr>Poppins Bold</vt:lpstr>
      <vt:lpstr>Arial</vt:lpstr>
      <vt:lpstr>Calibri</vt:lpstr>
      <vt:lpstr>Cardo 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and Graphing Mathematics Presentation in Colorful Grid Style</dc:title>
  <dc:creator>AdminR</dc:creator>
  <cp:lastModifiedBy>ana botchorishvili</cp:lastModifiedBy>
  <cp:revision>2</cp:revision>
  <dcterms:created xsi:type="dcterms:W3CDTF">2006-08-16T00:00:00Z</dcterms:created>
  <dcterms:modified xsi:type="dcterms:W3CDTF">2025-03-26T21:04:45Z</dcterms:modified>
  <dc:identifier>DAGfSLip5Pk</dc:identifier>
</cp:coreProperties>
</file>